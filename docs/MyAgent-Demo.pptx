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CD4"/>
                </a:solidFill>
              </a:defRPr>
            </a:pPr>
            <a:r>
              <a:t>Enterprise AI Agent — Sandboxed, Secure, One Hotkey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A4AE"/>
                </a:solidFill>
              </a:defRPr>
            </a:pPr>
            <a:r>
              <a:t>Powered by DefenseClaw  |  Hermes Agent  |  LiteLLM  |  Semantic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1"/>
                </a:solidFill>
              </a:defRPr>
            </a:pPr>
            <a:r>
              <a:t>AI agents with unrestricted system access — files, network,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1"/>
                </a:solidFill>
              </a:defRPr>
            </a:pPr>
            <a:r>
              <a:t>API keys scattered across agent configs, exposed to the agent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1"/>
                </a:solidFill>
              </a:defRPr>
            </a:pPr>
            <a:r>
              <a:t>Each integration (Outlook, Jira, Webex) configured separately per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1"/>
                </a:solidFill>
              </a:defRPr>
            </a:pPr>
            <a:r>
              <a:t>Complex multi-step installation — different for every agent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1"/>
                </a:solidFill>
              </a:defRPr>
            </a:pPr>
            <a:r>
              <a:t>No visibility into what the agent is doing — no audit, no guardrails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One Command. Everything Installed.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2296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BCD4"/>
                </a:solidFill>
              </a:defRPr>
            </a:pPr>
            <a:r>
              <a:t>defenseclaw setup it-governed --yes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1"/>
                </a:solidFill>
              </a:defRPr>
            </a:pPr>
            <a:r>
              <a:t>Prompts for Circuit API, Atlassian, Graph, Webex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1"/>
                </a:solidFill>
              </a:defRPr>
            </a:pPr>
            <a:r>
              <a:t>Auto-fetches JWT — validates and stores securely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1"/>
                </a:solidFill>
              </a:defRPr>
            </a:pPr>
            <a:r>
              <a:t>Installs Hermes agent framework + 78 enterprise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251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1"/>
                </a:solidFill>
              </a:defRPr>
            </a:pPr>
            <a:r>
              <a:t>Pulls hardened Docker sandbox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1"/>
                </a:solidFill>
              </a:defRPr>
            </a:pPr>
            <a:r>
              <a:t>Writes full config: 5 LLM models, semantic routing, MCP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1"/>
                </a:solidFill>
              </a:defRPr>
            </a:pPr>
            <a:r>
              <a:t>Creates guardrail rules (246 security + 5 sandbox-escape)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1"/>
                </a:solidFill>
              </a:defRPr>
            </a:pPr>
            <a:r>
              <a:t>MDM-deployable: pre-seed credentials via Jamf / Intune config 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— Single Gateway, Full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3931920" cy="6400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🖥️  MyAgent.app  (macOS Sandbox)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CD4"/>
                </a:solidFill>
              </a:defRPr>
            </a:pPr>
            <a:r>
              <a:t>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4AE"/>
                </a:solidFill>
              </a:defRPr>
            </a:pPr>
            <a:r>
              <a:t>WebSocket :9119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103120"/>
            <a:ext cx="576072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🤖  Hermes Agent  (Docker Sandbox — no host FS, no network)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CD4"/>
                </a:solidFill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9418320" cy="64008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🛡️  DefenseClaw Gateway  (port 18970) — Guardrails: 246 rules + 5 sandbox-escape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2743200" cy="128016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CF1"/>
                </a:solidFill>
              </a:defRPr>
            </a:pPr>
            <a:r>
              <a:t>LiteLLM Proxy</a:t>
            </a:r>
            <a:br/>
            <a:r>
              <a:t>port 4001</a:t>
            </a:r>
            <a:br/>
            <a:r>
              <a:t>─────────</a:t>
            </a:r>
            <a:br/>
            <a:r>
              <a:t>default → claude-sonnet-4-6</a:t>
            </a:r>
            <a:br/>
            <a:r>
              <a:t>coding → gpt-5-5</a:t>
            </a:r>
            <a:br/>
            <a:r>
              <a:t>reasoning → o3</a:t>
            </a:r>
            <a:br/>
            <a:r>
              <a:t>fast → gpt-4o-mini</a:t>
            </a:r>
            <a:br/>
            <a:r>
              <a:t>search → gemini-2.5-pro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114800"/>
            <a:ext cx="2286000" cy="128016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CF1"/>
                </a:solidFill>
              </a:defRPr>
            </a:pPr>
            <a:r>
              <a:t>Semantic Router</a:t>
            </a:r>
            <a:br/>
            <a:r>
              <a:t>port 8080</a:t>
            </a:r>
            <a:br/>
            <a:r>
              <a:t>─────────</a:t>
            </a:r>
            <a:br/>
            <a:r>
              <a:t>4 keyword signals</a:t>
            </a:r>
            <a:br/>
            <a:r>
              <a:t>5 embedding signals</a:t>
            </a:r>
            <a:br/>
            <a:r>
              <a:t>38 candidates</a:t>
            </a:r>
            <a:br/>
            <a:r>
              <a:t>mmBERT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2560320" cy="128016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CF1"/>
                </a:solidFill>
              </a:defRPr>
            </a:pPr>
            <a:r>
              <a:t>MCP Gateway</a:t>
            </a:r>
            <a:br/>
            <a:r>
              <a:t>/mcp/</a:t>
            </a:r>
            <a:br/>
            <a:r>
              <a:t>─────────</a:t>
            </a:r>
            <a:br/>
            <a:r>
              <a:t>Confluence/Jira (98 tools)</a:t>
            </a:r>
            <a:br/>
            <a:r>
              <a:t>Outlook/Calendar (9 tools)</a:t>
            </a:r>
            <a:br/>
            <a:r>
              <a:t>Webex (optional)</a:t>
            </a:r>
            <a:br/>
            <a:r>
              <a:t>All tokens local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114800"/>
            <a:ext cx="2103120" cy="128016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CF1"/>
                </a:solidFill>
              </a:defRPr>
            </a:pPr>
            <a:r>
              <a:t>Hermes Serve</a:t>
            </a:r>
            <a:br/>
            <a:r>
              <a:t>port 9119</a:t>
            </a:r>
            <a:br/>
            <a:r>
              <a:t>─────────</a:t>
            </a:r>
            <a:br/>
            <a:r>
              <a:t>78 PulseClaw skills</a:t>
            </a:r>
            <a:br/>
            <a:r>
              <a:t>Tool calling</a:t>
            </a:r>
            <a:br/>
            <a:r>
              <a:t>Planning &amp; memory</a:t>
            </a:r>
            <a:br/>
            <a:r>
              <a:t>Session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760720"/>
            <a:ext cx="5760720" cy="5486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0A4AE"/>
                </a:solidFill>
              </a:defRPr>
            </a:pPr>
            <a:r>
              <a:t>☁️  Circuit API  (Cisco AI Gateway — OAuth JWT, auto-refreshed)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A4AE"/>
                </a:solidFill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User Experience — Native, Fast, Non-Intrusive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286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BCD4"/>
                </a:solidFill>
              </a:defRPr>
            </a:pPr>
            <a:r>
              <a:t>⌥ +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Floating command bar from anywhere — like Spotlight for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2286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BCD4"/>
                </a:solidFill>
              </a:defRPr>
            </a:pPr>
            <a:r>
              <a:t>⌥ + Space ×2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Expand to full resizable window with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2286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CAF50"/>
                </a:solidFill>
              </a:defRPr>
            </a:pPr>
            <a:r>
              <a:t>🔔 Notification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macOS banner when response completes in background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77639"/>
            <a:ext cx="2286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📌 Menu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069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Always-present icon — shows agent status at a glance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2286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💬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Real-time response with thinking indicators and tool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532120"/>
            <a:ext cx="2286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800"/>
                </a:solidFill>
              </a:defRPr>
            </a:pPr>
            <a:r>
              <a:t>🎯 Smart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623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Query auto-routed to best model — coding, reasoning, search, simple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Three-Layer Security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2286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1</a:t>
            </a:r>
            <a:br/>
            <a:r>
              <a:t>macOS App Sandbox</a:t>
            </a:r>
            <a:br/>
            <a:r>
              <a:t>──────────────</a:t>
            </a:r>
            <a:br/>
            <a:r>
              <a:t>✗ No file access</a:t>
            </a:r>
            <a:br/>
            <a:r>
              <a:t>✗ No process spawning</a:t>
            </a:r>
            <a:br/>
            <a:r>
              <a:t>✗ No automation</a:t>
            </a:r>
            <a:br/>
            <a:r>
              <a:t>✗ No accessibility</a:t>
            </a:r>
            <a:br/>
            <a:r>
              <a:t>✗ Localhost network only</a:t>
            </a:r>
            <a:br/>
            <a:br/>
            <a:r>
              <a:t>MyAgent can ONLY talk</a:t>
            </a:r>
            <a:br/>
            <a:r>
              <a:t>to Hermes via WebSocket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383280" cy="2286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2</a:t>
            </a:r>
            <a:br/>
            <a:r>
              <a:t>Docker Sandbox</a:t>
            </a:r>
            <a:br/>
            <a:r>
              <a:t>──────────────</a:t>
            </a:r>
            <a:br/>
            <a:r>
              <a:t>✗ No host filesystem</a:t>
            </a:r>
            <a:br/>
            <a:r>
              <a:t>✗ No host network</a:t>
            </a:r>
            <a:br/>
            <a:r>
              <a:t>✗ All capabilities dropped</a:t>
            </a:r>
            <a:br/>
            <a:r>
              <a:t>✗ No privilege escalation</a:t>
            </a:r>
            <a:br/>
            <a:r>
              <a:t>✗ tmpfs ephemeral home</a:t>
            </a:r>
            <a:br/>
            <a:r>
              <a:t>✗ PID limit: 256</a:t>
            </a:r>
            <a:br/>
            <a:br/>
            <a:r>
              <a:t>Agent commands run</a:t>
            </a:r>
            <a:br/>
            <a:r>
              <a:t>inside container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383280" cy="22860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3</a:t>
            </a:r>
            <a:br/>
            <a:r>
              <a:t>DefenseClaw Guardrails</a:t>
            </a:r>
            <a:br/>
            <a:r>
              <a:t>──────────────</a:t>
            </a:r>
            <a:br/>
            <a:r>
              <a:t>• 246 security rules</a:t>
            </a:r>
            <a:br/>
            <a:r>
              <a:t>• 5 sandbox-escape rules</a:t>
            </a:r>
            <a:br/>
            <a:r>
              <a:t>• Prompt injection: BLOCK</a:t>
            </a:r>
            <a:br/>
            <a:r>
              <a:t>• Config tampering: BLOCK</a:t>
            </a:r>
            <a:br/>
            <a:r>
              <a:t>• Docker escape: BLOCK</a:t>
            </a:r>
            <a:br/>
            <a:r>
              <a:t>• Credential exfil: BLOCK</a:t>
            </a:r>
            <a:br/>
            <a:br/>
            <a:r>
              <a:t>Every tool call inspected</a:t>
            </a:r>
            <a:br/>
            <a:r>
              <a:t>in real-time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</a:defRPr>
            </a:pPr>
            <a:r>
              <a:t>All three layers are independent — compromising one does NOT defeat the others.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941832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8ECF1"/>
                </a:solidFill>
              </a:defRPr>
            </a:pPr>
            <a:r>
              <a:t>🔐  Key Security Insight</a:t>
            </a:r>
            <a:br/>
            <a:br/>
            <a:r>
              <a:t>All integrations (Outlook, Jira, Webex) authenticate on the user's OWN machine,</a:t>
            </a:r>
            <a:br/>
            <a:r>
              <a:t>using their OWN SSO session. Tokens never leave the device.</a:t>
            </a:r>
            <a:br/>
            <a:r>
              <a:t>No cloud relay. No third-party proxy. The MCP gateway runs locally,</a:t>
            </a:r>
            <a:br/>
            <a:r>
              <a:t>on the same Cisco-managed device where the user is already authenticated.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MCP Gateway — Local Integration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A4AE"/>
                </a:solidFill>
              </a:defRPr>
            </a:pPr>
            <a:r>
              <a:t>All enterprise apps connected through one gateway. Credentials managed centrally. Zero tokens exposed to the agent.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645920"/>
            <a:ext cx="3931920" cy="640080"/>
          </a:xfrm>
          <a:prstGeom prst="roundRect">
            <a:avLst/>
          </a:prstGeom>
          <a:solidFill>
            <a:srgbClr val="006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DefenseClaw MCP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2011680" cy="9144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ECF1"/>
                </a:solidFill>
              </a:defRPr>
            </a:pPr>
            <a:r>
              <a:t>📝</a:t>
            </a:r>
            <a:br/>
            <a:r>
              <a:t>Confluence</a:t>
            </a:r>
            <a:br/>
            <a:r>
              <a:t>98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926080"/>
            <a:ext cx="2011680" cy="9144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ECF1"/>
                </a:solidFill>
              </a:defRPr>
            </a:pPr>
            <a:r>
              <a:t>🎫</a:t>
            </a:r>
            <a:br/>
            <a:r>
              <a:t>Jira</a:t>
            </a:r>
            <a:br/>
            <a:r>
              <a:t>Tickets, Sprints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926080"/>
            <a:ext cx="2011680" cy="9144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ECF1"/>
                </a:solidFill>
              </a:defRPr>
            </a:pPr>
            <a:r>
              <a:t>📧</a:t>
            </a:r>
            <a:br/>
            <a:r>
              <a:t>Outlook</a:t>
            </a:r>
            <a:br/>
            <a:r>
              <a:t>Email, Calendar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926080"/>
            <a:ext cx="2011680" cy="9144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ECF1"/>
                </a:solidFill>
              </a:defRPr>
            </a:pPr>
            <a:r>
              <a:t>💬</a:t>
            </a:r>
            <a:br/>
            <a:r>
              <a:t>Webex</a:t>
            </a:r>
            <a:br/>
            <a:r>
              <a:t>Spaces, Messages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2926080"/>
            <a:ext cx="2011680" cy="9144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ECF1"/>
                </a:solidFill>
              </a:defRPr>
            </a:pPr>
            <a:r>
              <a:t>🔌</a:t>
            </a:r>
            <a:br/>
            <a:r>
              <a:t>Custom</a:t>
            </a:r>
            <a:br/>
            <a:r>
              <a:t>Add via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CD4"/>
                </a:solidFill>
              </a:defRPr>
            </a:pPr>
            <a:r>
              <a:t>78 PulseClaw Skills Pre-Installed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1"/>
                </a:solidFill>
              </a:defRPr>
            </a:pPr>
            <a:r>
              <a:t>📧 Outlook: inbox, calendar, email compose, summary scan, schedule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30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1"/>
                </a:solidFill>
              </a:defRPr>
            </a:pPr>
            <a:r>
              <a:t>💬 Webex: read, notify, conversation summary, meeting followup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5229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1"/>
                </a:solidFill>
              </a:defRPr>
            </a:pPr>
            <a:r>
              <a:t>🎫 Jira: search, create, sprint reports  |  📝 Confluence: pages,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155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1"/>
                </a:solidFill>
              </a:defRPr>
            </a:pPr>
            <a:r>
              <a:t>👔 Workday: time off, worker details, preferred name, holiday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1081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1"/>
                </a:solidFill>
              </a:defRPr>
            </a:pPr>
            <a:r>
              <a:t>📊 Reports: morning brief, weekly digest, end-of-day, priority catchup, VIP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1"/>
                </a:solidFill>
              </a:defRPr>
            </a:pPr>
            <a:r>
              <a:t>📁 Docs: PDF, PPTX, DOCX, XLSX, SharePoint, Box  |  🔍 Web search, Cisco directory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Enterprise Deployment — MDM Ready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0040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8ECF1"/>
                </a:solidFill>
              </a:defRPr>
            </a:pPr>
            <a:r>
              <a:t>Jamf / Intune / Kandji</a:t>
            </a:r>
            <a:br/>
            <a:r>
              <a:t>──────────────</a:t>
            </a:r>
            <a:br/>
            <a:r>
              <a:t>Push config profile</a:t>
            </a:r>
            <a:br/>
            <a:r>
              <a:t>with pre-seeded credentials</a:t>
            </a:r>
            <a:br/>
            <a:br/>
            <a:r>
              <a:t>Zero user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BCD4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8ECF1"/>
                </a:solidFill>
              </a:defRPr>
            </a:pPr>
            <a:r>
              <a:t>defenseclaw setup</a:t>
            </a:r>
            <a:br/>
            <a:r>
              <a:t>it-governed --yes</a:t>
            </a:r>
            <a:br/>
            <a:r>
              <a:t>──────────────</a:t>
            </a:r>
            <a:br/>
            <a:r>
              <a:t>Reads MDM config</a:t>
            </a:r>
            <a:br/>
            <a:r>
              <a:t>Installs everything</a:t>
            </a:r>
            <a:br/>
            <a:r>
              <a:t>Starts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BCD4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645920"/>
            <a:ext cx="256032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User sees:</a:t>
            </a:r>
            <a:br/>
            <a:r>
              <a:t>──────────────</a:t>
            </a:r>
            <a:br/>
            <a:r>
              <a:t>📌 Menu bar icon</a:t>
            </a:r>
            <a:br/>
            <a:r>
              <a:t>⌥ Space hotkey</a:t>
            </a:r>
            <a:br/>
            <a:br/>
            <a:r>
              <a:t>That's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</a:defRPr>
            </a:pPr>
            <a:r>
              <a:t>What IT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CF1"/>
                </a:solidFill>
              </a:defRPr>
            </a:pPr>
            <a:r>
              <a:t>•  Which LLM models are available (routing config)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CF1"/>
                </a:solidFill>
              </a:defRPr>
            </a:pPr>
            <a:r>
              <a:t>•  Which MCP integrations are enabled (Jira, Outlook, Webex,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CF1"/>
                </a:solidFill>
              </a:defRPr>
            </a:pPr>
            <a:r>
              <a:t>•  Guardrail enforcement mode (observe / action)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CF1"/>
                </a:solidFill>
              </a:defRPr>
            </a:pPr>
            <a:r>
              <a:t>•  Docker sandbox hardening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CF1"/>
                </a:solidFill>
              </a:defRPr>
            </a:pPr>
            <a:r>
              <a:t>•  Audit log retention and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CF1"/>
                </a:solidFill>
              </a:defRPr>
            </a:pPr>
            <a:r>
              <a:t>•  Config immutability (chflags uchg locks)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CD4"/>
                </a:solidFill>
              </a:defRPr>
            </a:pPr>
            <a:r>
              <a:t>Enterprise AI — Sandboxed and Secure</a:t>
            </a:r>
            <a:br/>
            <a:r>
              <a:t>One ⌥ Space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✓  One command installs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✓  One gateway runs all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✓  One hotkey for the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✓  Three layers of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✓  Zero tokens exposed to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CF1"/>
                </a:solidFill>
              </a:defRPr>
            </a:pPr>
            <a:r>
              <a:t>✓  78 enterprise skills out of the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github.com/cisco-aispg/defenseclaw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